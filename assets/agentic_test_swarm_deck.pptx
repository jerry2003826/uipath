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bf7436d0e74a2b" /><Relationship Type="http://schemas.openxmlformats.org/officeDocument/2006/relationships/extended-properties" Target="/docProps/app.xml" Id="R7c003fc5d21a46b7" /><Relationship Type="http://schemas.openxmlformats.org/officeDocument/2006/relationships/officeDocument" Target="/ppt/presentation.xml" Id="R260600d9f31d4c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c382a5326b4d1c"/>
  </p:sldMasterIdLst>
  <p:notesMasterIdLst>
    <p:notesMasterId xmlns:r="http://schemas.openxmlformats.org/officeDocument/2006/relationships" r:id="R3b797d9930294cb6"/>
  </p:notesMasterIdLst>
  <p:sldIdLst>
    <p:sldId xmlns:r="http://schemas.openxmlformats.org/officeDocument/2006/relationships" id="256" r:id="R37e3eee1dc794c99"/>
    <p:sldId xmlns:r="http://schemas.openxmlformats.org/officeDocument/2006/relationships" id="257" r:id="Rd83cd815569a4281"/>
    <p:sldId xmlns:r="http://schemas.openxmlformats.org/officeDocument/2006/relationships" id="258" r:id="R27d3c7b7e1f847ac"/>
    <p:sldId xmlns:r="http://schemas.openxmlformats.org/officeDocument/2006/relationships" id="259" r:id="Rd754f9d8f75844bb"/>
    <p:sldId xmlns:r="http://schemas.openxmlformats.org/officeDocument/2006/relationships" id="260" r:id="R36245680a0cb474f"/>
    <p:sldId xmlns:r="http://schemas.openxmlformats.org/officeDocument/2006/relationships" id="261" r:id="Rf976771be3ba44fb"/>
    <p:sldId xmlns:r="http://schemas.openxmlformats.org/officeDocument/2006/relationships" id="262" r:id="Ref9cebacdbd14b4f"/>
    <p:sldId xmlns:r="http://schemas.openxmlformats.org/officeDocument/2006/relationships" id="263" r:id="Rc1db3950e6994413"/>
    <p:sldId xmlns:r="http://schemas.openxmlformats.org/officeDocument/2006/relationships" id="264" r:id="R193bb6890d5145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ae666fdfa045b8" /><Relationship Type="http://schemas.openxmlformats.org/officeDocument/2006/relationships/slideMaster" Target="/ppt/slideMasters/slideMaster1.xml" Id="R11c382a5326b4d1c" /><Relationship Type="http://schemas.openxmlformats.org/officeDocument/2006/relationships/notesMaster" Target="/ppt/notesMasters/notesMaster1.xml" Id="R3b797d9930294cb6" /><Relationship Type="http://schemas.openxmlformats.org/officeDocument/2006/relationships/presProps" Target="/ppt/presProps.xml" Id="R648f811fc86f473d" /><Relationship Type="http://schemas.openxmlformats.org/officeDocument/2006/relationships/tableStyles" Target="/ppt/tableStyles.xml" Id="Rf8d2758711d648af" /><Relationship Type="http://schemas.openxmlformats.org/officeDocument/2006/relationships/slide" Target="/ppt/slides/slide1.xml" Id="R37e3eee1dc794c99" /><Relationship Type="http://schemas.openxmlformats.org/officeDocument/2006/relationships/slide" Target="/ppt/slides/slide2.xml" Id="Rd83cd815569a4281" /><Relationship Type="http://schemas.openxmlformats.org/officeDocument/2006/relationships/slide" Target="/ppt/slides/slide3.xml" Id="R27d3c7b7e1f847ac" /><Relationship Type="http://schemas.openxmlformats.org/officeDocument/2006/relationships/slide" Target="/ppt/slides/slide4.xml" Id="Rd754f9d8f75844bb" /><Relationship Type="http://schemas.openxmlformats.org/officeDocument/2006/relationships/slide" Target="/ppt/slides/slide5.xml" Id="R36245680a0cb474f" /><Relationship Type="http://schemas.openxmlformats.org/officeDocument/2006/relationships/slide" Target="/ppt/slides/slide6.xml" Id="Rf976771be3ba44fb" /><Relationship Type="http://schemas.openxmlformats.org/officeDocument/2006/relationships/slide" Target="/ppt/slides/slide7.xml" Id="Ref9cebacdbd14b4f" /><Relationship Type="http://schemas.openxmlformats.org/officeDocument/2006/relationships/slide" Target="/ppt/slides/slide8.xml" Id="Rc1db3950e6994413" /><Relationship Type="http://schemas.openxmlformats.org/officeDocument/2006/relationships/slide" Target="/ppt/slides/slide9.xml" Id="R193bb6890d5145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8b2839131045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fbd39724714daa" /><Relationship Type="http://schemas.openxmlformats.org/officeDocument/2006/relationships/notesMaster" Target="/ppt/notesMasters/notesMaster1.xml" Id="R7de90c97a86446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e044b6432f47f2" /><Relationship Type="http://schemas.openxmlformats.org/officeDocument/2006/relationships/notesMaster" Target="/ppt/notesMasters/notesMaster1.xml" Id="R550db130a8264d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0409e73ff44dc5" /><Relationship Type="http://schemas.openxmlformats.org/officeDocument/2006/relationships/notesMaster" Target="/ppt/notesMasters/notesMaster1.xml" Id="Rd240bdacbdab41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7537270134c23" /><Relationship Type="http://schemas.openxmlformats.org/officeDocument/2006/relationships/notesMaster" Target="/ppt/notesMasters/notesMaster1.xml" Id="R854f3ce9331e43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6c810089b5426c" /><Relationship Type="http://schemas.openxmlformats.org/officeDocument/2006/relationships/notesMaster" Target="/ppt/notesMasters/notesMaster1.xml" Id="R7b74b7fc1b444f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22faeb393a40e7" /><Relationship Type="http://schemas.openxmlformats.org/officeDocument/2006/relationships/notesMaster" Target="/ppt/notesMasters/notesMaster1.xml" Id="R4f91be9ffe4a4b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db6e57cd114bea" /><Relationship Type="http://schemas.openxmlformats.org/officeDocument/2006/relationships/notesMaster" Target="/ppt/notesMasters/notesMaster1.xml" Id="R78c184b9dc324b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b36f7267d14ef0" /><Relationship Type="http://schemas.openxmlformats.org/officeDocument/2006/relationships/notesMaster" Target="/ppt/notesMasters/notesMaster1.xml" Id="R48c347f859b440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4e91aaeeb84190" /><Relationship Type="http://schemas.openxmlformats.org/officeDocument/2006/relationships/notesMaster" Target="/ppt/notesMasters/notesMaster1.xml" Id="R518bba424d7b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d0b4088564b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9a0b54022d478e" /><Relationship Type="http://schemas.openxmlformats.org/officeDocument/2006/relationships/slideLayout" Target="/ppt/slideLayouts/slideLayout1.xml" Id="Rae2b77e71b9c4f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b77e71b9c4f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a6c2ce35e4046" /><Relationship Type="http://schemas.openxmlformats.org/officeDocument/2006/relationships/image" Target="/ppt/media/image.jpeg" Id="Rfb9606c25dc14493" /><Relationship Type="http://schemas.openxmlformats.org/officeDocument/2006/relationships/notesSlide" Target="/ppt/notesSlides/notesSlide1.xml" Id="R0fc2965b9675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304648e764dc7" /><Relationship Type="http://schemas.openxmlformats.org/officeDocument/2006/relationships/image" Target="/ppt/media/image2.jpeg" Id="Rcb25e3c5a047420b" /><Relationship Type="http://schemas.openxmlformats.org/officeDocument/2006/relationships/notesSlide" Target="/ppt/notesSlides/notesSlide2.xml" Id="Rc32c84ea07b64b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fc46d7bea414d" /><Relationship Type="http://schemas.openxmlformats.org/officeDocument/2006/relationships/image" Target="/ppt/media/image3.jpeg" Id="R5bcad8feb7bf4deb" /><Relationship Type="http://schemas.openxmlformats.org/officeDocument/2006/relationships/notesSlide" Target="/ppt/notesSlides/notesSlide3.xml" Id="Rad552e5af7424a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7007d7bfb4e83" /><Relationship Type="http://schemas.openxmlformats.org/officeDocument/2006/relationships/image" Target="/ppt/media/image.png" Id="R6c60981f757f43dd" /><Relationship Type="http://schemas.openxmlformats.org/officeDocument/2006/relationships/notesSlide" Target="/ppt/notesSlides/notesSlide4.xml" Id="Rc96533403a204c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b0a7a018a4379" /><Relationship Type="http://schemas.openxmlformats.org/officeDocument/2006/relationships/image" Target="/ppt/media/image2.png" Id="R425cdd1f7b334fc0" /><Relationship Type="http://schemas.openxmlformats.org/officeDocument/2006/relationships/notesSlide" Target="/ppt/notesSlides/notesSlide5.xml" Id="R7cb6efc4cc5344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d1bc8504a43b1" /><Relationship Type="http://schemas.openxmlformats.org/officeDocument/2006/relationships/image" Target="/ppt/media/image4.jpeg" Id="R179d9e88dc814177" /><Relationship Type="http://schemas.openxmlformats.org/officeDocument/2006/relationships/notesSlide" Target="/ppt/notesSlides/notesSlide6.xml" Id="R2913b61fc8674b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d3bdc5f884fce" /><Relationship Type="http://schemas.openxmlformats.org/officeDocument/2006/relationships/image" Target="/ppt/media/image5.jpeg" Id="R802873ca06e34c4a" /><Relationship Type="http://schemas.openxmlformats.org/officeDocument/2006/relationships/notesSlide" Target="/ppt/notesSlides/notesSlide7.xml" Id="R2a3c17b841434b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345edc8814692" /><Relationship Type="http://schemas.openxmlformats.org/officeDocument/2006/relationships/image" Target="/ppt/media/image6.jpeg" Id="R358ad30b204f4b32" /><Relationship Type="http://schemas.openxmlformats.org/officeDocument/2006/relationships/notesSlide" Target="/ppt/notesSlides/notesSlide8.xml" Id="Ra480d10249b248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8b48a230a453b" /><Relationship Type="http://schemas.openxmlformats.org/officeDocument/2006/relationships/image" Target="/ppt/media/image7.jpeg" Id="Rb5e7290d1e6e4a48" /><Relationship Type="http://schemas.openxmlformats.org/officeDocument/2006/relationships/notesSlide" Target="/ppt/notesSlides/notesSlide9.xml" Id="Rb7078da741f6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ADEEA8-34D4-4078-B4EB-9531B3C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BB05C-67E9-42B2-9ECD-9890B2C1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9FC"/>
                </a:solidFill>
              </a:defRPr>
            </a:pPr>
            <a:r>
              <a:rPr sz="3900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0A31E-AA9B-459F-A84F-7EFE3A49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4F4"/>
                </a:solidFill>
              </a:defRPr>
            </a:pPr>
            <a:r>
              <a:rPr sz="1875" b="0">
                <a:solidFill>
                  <a:srgbClr val="D8E4F4"/>
                </a:solidFill>
              </a:rPr>
              <a:t>UiPath Test Cloud agents that attack, repair, re-test, and certify enterprise AI workflows before they touch production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99804-9C90-49C5-89F7-7BE02000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190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1495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1717E-5B4C-4458-9CC7-C5A28B7B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038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95FF"/>
                </a:solidFill>
              </a:defRPr>
            </a:pPr>
            <a:r>
              <a:rPr sz="975" b="1">
                <a:solidFill>
                  <a:srgbClr val="1495FF"/>
                </a:solidFill>
              </a:rPr>
              <a:t>Track 3: UiPath Test 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74F8B-C38C-4712-943F-B3372C2D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2286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FD2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5C09E-5F49-4308-8182-7C37261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0520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D28F"/>
                </a:solidFill>
              </a:defRPr>
            </a:pPr>
            <a:r>
              <a:rPr sz="975" b="1">
                <a:solidFill>
                  <a:srgbClr val="2FD28F"/>
                </a:solidFill>
              </a:rPr>
              <a:t>UiPath-governed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57939-3F7F-4EF4-9974-22D83EBF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2900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FFC9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AE585-59A0-45E3-91EF-552CE45B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05200"/>
            <a:ext cx="2228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C94A"/>
                </a:solidFill>
              </a:defRPr>
            </a:pPr>
            <a:r>
              <a:rPr sz="975" b="1">
                <a:solidFill>
                  <a:srgbClr val="FFC94A"/>
                </a:solidFill>
              </a:rPr>
              <a:t>Runtime permit enforcement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CB5EF-B6F0-4678-8AF5-7DD4C85C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47750"/>
            <a:ext cx="37528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7348A-D29D-40E3-A92B-BF3B3857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620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Live public demo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606c25dc14493"/>
          <a:stretch xmlns:a="http://schemas.openxmlformats.org/drawingml/2006/main"/>
        </p:blipFill>
        <p:spPr>
          <a:xfrm xmlns:a="http://schemas.openxmlformats.org/drawingml/2006/main">
            <a:off x="7905750" y="1917557"/>
            <a:ext cx="3524250" cy="2165637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778E7-E24F-4E53-913B-11FF4EE2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102C7-06F2-4643-B11E-08571BB2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Final claim: AI testing agents generate evidence; UiPath governs approval, traceability, and runtime enforcement.</a:t>
            </a:r>
          </a:p>
        </p:txBody>
      </p:sp>
    </p:spTree>
    <p:extLst>
      <p:ext uri="{BB962C8B-B14F-4D97-AF65-F5344CB8AC3E}">
        <p14:creationId xmlns:p14="http://schemas.microsoft.com/office/powerpoint/2010/main" val="2140264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E7F9A7-AE21-4640-A19C-513E5347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6948F-FA37-43C4-BAE1-F978C0AE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B39AB-5425-48C8-9F1F-3A61823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9FC"/>
                </a:solidFill>
              </a:defRPr>
            </a:pPr>
            <a:r>
              <a:rPr sz="1425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AFDAE-1508-4FB8-B7F0-1E54132A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BD0"/>
                </a:solidFill>
              </a:defRPr>
            </a:pPr>
            <a:r>
              <a:rPr sz="825" b="0">
                <a:solidFill>
                  <a:srgbClr val="AEBBD0"/>
                </a:solidFill>
              </a:rPr>
              <a:t>UiPath Test Cloud agents that attack, repair, re-test, and certify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72BFE-B739-4B59-A217-70371F9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"/>
            <a:ext cx="552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3352"/>
          </a:solidFill>
          <a:ln xmlns:a="http://schemas.openxmlformats.org/drawingml/2006/main" w="9525">
            <a:solidFill>
              <a:srgbClr val="477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2E77D-0899-4D10-B209-9E435893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71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9FC"/>
                </a:solidFill>
              </a:defRPr>
            </a:pPr>
            <a:r>
              <a:rPr sz="975" b="1">
                <a:solidFill>
                  <a:srgbClr val="F6F9FC"/>
                </a:solidFill>
              </a:rPr>
              <a:t>2/9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79371-B798-4150-AF34-54ACA3AF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9FC"/>
                </a:solidFill>
              </a:defRPr>
            </a:pPr>
            <a:r>
              <a:rPr sz="2850" b="1">
                <a:solidFill>
                  <a:srgbClr val="F6F9FC"/>
                </a:solidFill>
              </a:rPr>
              <a:t>The New QA Problem: AI Workers Touch Production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CED79-46BC-4FA1-80AD-3040F00E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5381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8F7"/>
                </a:solidFill>
              </a:defRPr>
            </a:pPr>
            <a:r>
              <a:rPr sz="1800" b="0">
                <a:solidFill>
                  <a:srgbClr val="DCE8F7"/>
                </a:solidFill>
              </a:rPr>
              <a:t>Enterprise AI agents are no longer just chatbots. They call APIs, trigger automations, and ask other agents for sensitive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F0C1E-8808-464C-83D4-6B647C21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0"/>
          </a:solidFill>
          <a:ln xmlns:a="http://schemas.openxmlformats.org/drawingml/2006/main" w="0">
            <a:solidFill>
              <a:srgbClr val="FF5C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8F2D5-69EA-445C-81EB-FB912D33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Prompt injection can make one agent request raw customer PII from another agent.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F1845-BF9E-4C0B-8732-BBBC73C8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4A"/>
          </a:solidFill>
          <a:ln xmlns:a="http://schemas.openxmlformats.org/drawingml/2006/main" w="0">
            <a:solidFill>
              <a:srgbClr val="FFC9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343DD-A2E1-4975-8E3A-C8D2F72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Static prompt review does not prove safe behavior at runtime.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92DB2-9398-4016-8299-1595679B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212A1-195A-4200-A2BB-8100FB3F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Testing must cover policies, tool schemas, traces, approval paths, and live enforcement.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31270-4899-467D-BC6B-A4506609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28750"/>
            <a:ext cx="45148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14759-A7BA-41D1-AFB9-A9BB8BEA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43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Policy-to-evidence proof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5e3c5a047420b"/>
          <a:stretch xmlns:a="http://schemas.openxmlformats.org/drawingml/2006/main"/>
        </p:blipFill>
        <p:spPr>
          <a:xfrm xmlns:a="http://schemas.openxmlformats.org/drawingml/2006/main">
            <a:off x="6762750" y="2064434"/>
            <a:ext cx="4286250" cy="2633883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D2838-2109-4BD3-BEA6-ACE22379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6D794-7B37-4875-9C8B-7F9C0DB2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Hero risk: a Marketing Outreach Agent claims urgent CMO approval and asks a Customer Data Agent to export 500 VIP emails.</a:t>
            </a:r>
          </a:p>
        </p:txBody>
      </p:sp>
    </p:spTree>
    <p:extLst>
      <p:ext uri="{BB962C8B-B14F-4D97-AF65-F5344CB8AC3E}">
        <p14:creationId xmlns:p14="http://schemas.microsoft.com/office/powerpoint/2010/main" val="645252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D6E7B5-CBBC-4EE3-B44D-54E11E9F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3DA34-2333-4F4A-B481-2B3D8E48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489D4-DF24-4CE0-9978-4EF50316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9FC"/>
                </a:solidFill>
              </a:defRPr>
            </a:pPr>
            <a:r>
              <a:rPr sz="1425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7198D-3D97-4DCD-B683-F249A10E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BD0"/>
                </a:solidFill>
              </a:defRPr>
            </a:pPr>
            <a:r>
              <a:rPr sz="825" b="0">
                <a:solidFill>
                  <a:srgbClr val="AEBBD0"/>
                </a:solidFill>
              </a:rPr>
              <a:t>UiPath Test Cloud agents that attack, repair, re-test, and certify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6565D-3280-45B0-9CDD-27EC1155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"/>
            <a:ext cx="552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3352"/>
          </a:solidFill>
          <a:ln xmlns:a="http://schemas.openxmlformats.org/drawingml/2006/main" w="9525">
            <a:solidFill>
              <a:srgbClr val="477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296E9-6228-47DF-8F2F-C15F3269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71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9FC"/>
                </a:solidFill>
              </a:defRPr>
            </a:pPr>
            <a:r>
              <a:rPr sz="975" b="1">
                <a:solidFill>
                  <a:srgbClr val="F6F9FC"/>
                </a:solidFill>
              </a:rPr>
              <a:t>3/9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E92AE-29C1-437C-AB88-CC36846D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9FC"/>
                </a:solidFill>
              </a:defRPr>
            </a:pPr>
            <a:r>
              <a:rPr sz="2850" b="1">
                <a:solidFill>
                  <a:srgbClr val="F6F9FC"/>
                </a:solidFill>
              </a:rPr>
              <a:t>What It Does: A Swarm of AI Testing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2E295-EB12-4760-8C59-63A82959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F663A-9237-43A4-B181-1CFF45B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Policy Miner extracts test obligations from business policy and tool schema.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4947F-D62A-4FA7-B8F9-D161EFD3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0"/>
          </a:solidFill>
          <a:ln xmlns:a="http://schemas.openxmlformats.org/drawingml/2006/main" w="0">
            <a:solidFill>
              <a:srgbClr val="FF5C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BC08E-4CE6-40AB-8C53-B963933C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Red-Team Agent generates adversarial scenarios and prompt-injection attempts.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F1BF1-A263-46E2-A8E2-CDB269E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D28F"/>
          </a:solidFill>
          <a:ln xmlns:a="http://schemas.openxmlformats.org/drawingml/2006/main" w="0">
            <a:solidFill>
              <a:srgbClr val="2FD2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3444F-4662-4498-9B7E-C70037D1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Test Designer turns those attacks into Test Cloud certification cases.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57DBD-9B4C-44C2-BEE8-C99BE71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4A"/>
          </a:solidFill>
          <a:ln xmlns:a="http://schemas.openxmlformats.org/drawingml/2006/main" w="0">
            <a:solidFill>
              <a:srgbClr val="FFC9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6EB06-71A4-42F8-8710-EF1F4B08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Failure Analyst and Repair Agent explain failures, propose guardrails, and trigger targeted re-tests.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20562-182D-4099-86E6-392B8EFD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90650"/>
            <a:ext cx="4705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89A02-0A39-4ACE-91E7-E7B6E9E0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Live swarm evidence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ad8feb7bf4deb"/>
          <a:stretch xmlns:a="http://schemas.openxmlformats.org/drawingml/2006/main"/>
        </p:blipFill>
        <p:spPr>
          <a:xfrm xmlns:a="http://schemas.openxmlformats.org/drawingml/2006/main">
            <a:off x="6667500" y="1967803"/>
            <a:ext cx="4476750" cy="2750944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E050F-14E2-4A50-A08A-DB87FBAA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7A3FC-E86D-489F-86B9-A5DAECB0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The permit is the output, not the product. The product is the UiPath-governed testing loop.</a:t>
            </a:r>
          </a:p>
        </p:txBody>
      </p:sp>
    </p:spTree>
    <p:extLst>
      <p:ext uri="{BB962C8B-B14F-4D97-AF65-F5344CB8AC3E}">
        <p14:creationId xmlns:p14="http://schemas.microsoft.com/office/powerpoint/2010/main" val="1220587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AA821-D03C-4CBF-A18F-E329D6F8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D9224-0695-43AE-AE5F-4FBA17AB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B96F5-373E-43E0-B6A2-026A2B6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9FC"/>
                </a:solidFill>
              </a:defRPr>
            </a:pPr>
            <a:r>
              <a:rPr sz="1425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E13A5-A88F-4C1F-8ECD-DB701688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BD0"/>
                </a:solidFill>
              </a:defRPr>
            </a:pPr>
            <a:r>
              <a:rPr sz="825" b="0">
                <a:solidFill>
                  <a:srgbClr val="AEBBD0"/>
                </a:solidFill>
              </a:rPr>
              <a:t>UiPath Test Cloud agents that attack, repair, re-test, and certify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3C3E5-6F8E-4328-8DBD-02E3D362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"/>
            <a:ext cx="552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3352"/>
          </a:solidFill>
          <a:ln xmlns:a="http://schemas.openxmlformats.org/drawingml/2006/main" w="9525">
            <a:solidFill>
              <a:srgbClr val="477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EB150-0A1D-4B0D-9446-C6F13716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71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9FC"/>
                </a:solidFill>
              </a:defRPr>
            </a:pPr>
            <a:r>
              <a:rPr sz="975" b="1">
                <a:solidFill>
                  <a:srgbClr val="F6F9FC"/>
                </a:solidFill>
              </a:rPr>
              <a:t>4/9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14DBA-54AE-4BEB-B874-EFF08416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9FC"/>
                </a:solidFill>
              </a:defRPr>
            </a:pPr>
            <a:r>
              <a:rPr sz="2850" b="1">
                <a:solidFill>
                  <a:srgbClr val="F6F9FC"/>
                </a:solidFill>
              </a:rPr>
              <a:t>Architecture: UiPath Is the Control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C9480-08A0-4F33-AE50-55365BD9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2D205-C32E-4A06-8175-8138A883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Maestro / Studio Web models the certification lifecycle.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CB6A7-7346-4EC2-8BD4-03220AE9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D28F"/>
          </a:solidFill>
          <a:ln xmlns:a="http://schemas.openxmlformats.org/drawingml/2006/main" w="0">
            <a:solidFill>
              <a:srgbClr val="2FD2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0000F-04ED-468A-8647-2729AF8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Test Cloud stores requirements, test cases, and execution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A37C6-B09B-45A5-AC5E-8520D62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4A"/>
          </a:solidFill>
          <a:ln xmlns:a="http://schemas.openxmlformats.org/drawingml/2006/main" w="0">
            <a:solidFill>
              <a:srgbClr val="FFC9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499AC-8014-4CE6-85DF-231904C6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Action Center gates the restricted permit with human approval.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8D744-EF5D-4035-9E1B-6AF0720D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0"/>
          </a:solidFill>
          <a:ln xmlns:a="http://schemas.openxmlformats.org/drawingml/2006/main" w="0">
            <a:solidFill>
              <a:srgbClr val="FF5C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78810-DBDA-495A-B583-FAC75118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API Workflow enforces the resulting runtime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876BB-A86E-4818-A258-F4574C13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90650"/>
            <a:ext cx="4705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65E34-1F63-4E76-85CE-DAAAE8B5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UiPath workflow model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0981f757f43dd"/>
          <a:stretch xmlns:a="http://schemas.openxmlformats.org/drawingml/2006/main"/>
        </p:blipFill>
        <p:spPr>
          <a:xfrm xmlns:a="http://schemas.openxmlformats.org/drawingml/2006/main">
            <a:off x="6667500" y="1854365"/>
            <a:ext cx="4476750" cy="297782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C7551-B887-4FD3-B9DF-4A030022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9CF1A-C71E-424D-B7B9-87645382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External AI and coding agents act as workers; UiPath orchestrates evidence, approval, and enforcement.</a:t>
            </a:r>
          </a:p>
        </p:txBody>
      </p:sp>
    </p:spTree>
    <p:extLst>
      <p:ext uri="{BB962C8B-B14F-4D97-AF65-F5344CB8AC3E}">
        <p14:creationId xmlns:p14="http://schemas.microsoft.com/office/powerpoint/2010/main" val="1325935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384036-D5FE-4185-9A83-869AB0D1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CAAE5-7D80-487C-A92E-EFE86FF3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D90B0-3E0B-421C-A85D-0256BCC0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9FC"/>
                </a:solidFill>
              </a:defRPr>
            </a:pPr>
            <a:r>
              <a:rPr sz="1425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F9756-F623-4BAC-A24C-709C403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BD0"/>
                </a:solidFill>
              </a:defRPr>
            </a:pPr>
            <a:r>
              <a:rPr sz="825" b="0">
                <a:solidFill>
                  <a:srgbClr val="AEBBD0"/>
                </a:solidFill>
              </a:rPr>
              <a:t>UiPath Test Cloud agents that attack, repair, re-test, and certify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E99DD-E8A1-4F1D-B108-1C85E3E1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"/>
            <a:ext cx="552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3352"/>
          </a:solidFill>
          <a:ln xmlns:a="http://schemas.openxmlformats.org/drawingml/2006/main" w="9525">
            <a:solidFill>
              <a:srgbClr val="477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97C12-52D7-4C3C-A319-1970187C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71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9FC"/>
                </a:solidFill>
              </a:defRPr>
            </a:pPr>
            <a:r>
              <a:rPr sz="975" b="1">
                <a:solidFill>
                  <a:srgbClr val="F6F9FC"/>
                </a:solidFill>
              </a:rPr>
              <a:t>5/9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4ABB2-807D-4AFE-A0A4-FA64306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9FC"/>
                </a:solidFill>
              </a:defRPr>
            </a:pPr>
            <a:r>
              <a:rPr sz="2850" b="1">
                <a:solidFill>
                  <a:srgbClr val="F6F9FC"/>
                </a:solidFill>
              </a:rPr>
              <a:t>Test Cloud Evidence: Six Certification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CCB14-39B4-49DF-80E6-3951FC4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D28F"/>
          </a:solidFill>
          <a:ln xmlns:a="http://schemas.openxmlformats.org/drawingml/2006/main" w="0">
            <a:solidFill>
              <a:srgbClr val="2FD2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728C8-943D-49A9-B3E2-8491B1BB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Final run: 6 passed, 0 failed, 0 not executed.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103E8-F54E-4711-B07C-3E602135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4950B-C5BA-4E97-ADF5-A46C4DF2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Coverage includes raw PII denial, aggregate access, human approval, and regression.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C76F6-ADE6-4497-8CC4-7F2E1200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4A"/>
          </a:solidFill>
          <a:ln xmlns:a="http://schemas.openxmlformats.org/drawingml/2006/main" w="0">
            <a:solidFill>
              <a:srgbClr val="FFC9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BF601-77F7-449C-A171-B9C412C5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TC-006 turns a phone-number export incident into permanent regression coverage.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631C2-BD10-49E1-BD5F-9AB1280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90650"/>
            <a:ext cx="4705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07CCE-F1D5-4A03-B8DE-584D5683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Test Manager execution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cdd1f7b334fc0"/>
          <a:stretch xmlns:a="http://schemas.openxmlformats.org/drawingml/2006/main"/>
        </p:blipFill>
        <p:spPr>
          <a:xfrm xmlns:a="http://schemas.openxmlformats.org/drawingml/2006/main">
            <a:off x="6667500" y="2009577"/>
            <a:ext cx="4476750" cy="2667397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6D664-0850-47D1-A650-C602066E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5BC24-1ACF-445B-81EF-EFAFB93E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Judging point: the certification result is managed in UiPath Test Cloud, not only in local code.</a:t>
            </a:r>
          </a:p>
        </p:txBody>
      </p:sp>
    </p:spTree>
    <p:extLst>
      <p:ext uri="{BB962C8B-B14F-4D97-AF65-F5344CB8AC3E}">
        <p14:creationId xmlns:p14="http://schemas.microsoft.com/office/powerpoint/2010/main" val="592928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0DD583-6C94-42C4-B62A-92032150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2CDEF-6AD3-4642-9F6A-B907A6BE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3EC88-CC10-4012-9EC6-4E867BD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9FC"/>
                </a:solidFill>
              </a:defRPr>
            </a:pPr>
            <a:r>
              <a:rPr sz="1425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54EA5-E306-4803-9CCC-4DAFD96A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BD0"/>
                </a:solidFill>
              </a:defRPr>
            </a:pPr>
            <a:r>
              <a:rPr sz="825" b="0">
                <a:solidFill>
                  <a:srgbClr val="AEBBD0"/>
                </a:solidFill>
              </a:rPr>
              <a:t>UiPath Test Cloud agents that attack, repair, re-test, and certify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04986-0B3C-4316-9A79-233390D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"/>
            <a:ext cx="552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3352"/>
          </a:solidFill>
          <a:ln xmlns:a="http://schemas.openxmlformats.org/drawingml/2006/main" w="9525">
            <a:solidFill>
              <a:srgbClr val="477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23883-120C-4BCA-8A04-8F06AE69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71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9FC"/>
                </a:solidFill>
              </a:defRPr>
            </a:pPr>
            <a:r>
              <a:rPr sz="975" b="1">
                <a:solidFill>
                  <a:srgbClr val="F6F9FC"/>
                </a:solidFill>
              </a:rPr>
              <a:t>6/9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91484-EF5D-425C-BAB1-BEA7E1B3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9FC"/>
                </a:solidFill>
              </a:defRPr>
            </a:pPr>
            <a:r>
              <a:rPr sz="2850" b="1">
                <a:solidFill>
                  <a:srgbClr val="F6F9FC"/>
                </a:solidFill>
              </a:rPr>
              <a:t>Before and After: Fail, Repair, Re-Test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88BB0-CE6A-4A07-A569-2BE3613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0"/>
          </a:solidFill>
          <a:ln xmlns:a="http://schemas.openxmlformats.org/drawingml/2006/main" w="0">
            <a:solidFill>
              <a:srgbClr val="FF5C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E44DA-CE80-421E-A1E9-5B51B505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Before repair: TC-001 catches prompt-injected raw PII export.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C1713-CDED-4E7C-B200-1D213480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3CA65-4AF7-47E2-8367-93022789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Failure Analyst explains root cause and risk impact.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F962F-B027-4FB4-9895-9FEB05E6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D28F"/>
          </a:solidFill>
          <a:ln xmlns:a="http://schemas.openxmlformats.org/drawingml/2006/main" w="0">
            <a:solidFill>
              <a:srgbClr val="2FD2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29B27-822B-49CF-A6F8-C98C3C43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Repair Agent proposes a guardrail, then targeted re-tests pass.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03E8A-8AE6-47E7-A81C-C9CFA309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90650"/>
            <a:ext cx="4705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E4DA0-5361-442D-A1C4-C325AE2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Before / after evidence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d9e88dc814177"/>
          <a:stretch xmlns:a="http://schemas.openxmlformats.org/drawingml/2006/main"/>
        </p:blipFill>
        <p:spPr>
          <a:xfrm xmlns:a="http://schemas.openxmlformats.org/drawingml/2006/main">
            <a:off x="6667500" y="1967803"/>
            <a:ext cx="4476750" cy="2750944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ED479-EE47-4946-B1C0-250DDB5F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2CAB1-EC76-42AF-B297-99E6EC94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AI proposes attacks and repairs; deterministic oracles and Test Cloud evidence decide what is safe.</a:t>
            </a:r>
          </a:p>
        </p:txBody>
      </p:sp>
    </p:spTree>
    <p:extLst>
      <p:ext uri="{BB962C8B-B14F-4D97-AF65-F5344CB8AC3E}">
        <p14:creationId xmlns:p14="http://schemas.microsoft.com/office/powerpoint/2010/main" val="289287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76CA5-0FAD-4A32-9014-A12AC33C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8E87F-76FD-448E-A80A-0D8E612C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5406F-AF76-4304-94DD-BD5E2A62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9FC"/>
                </a:solidFill>
              </a:defRPr>
            </a:pPr>
            <a:r>
              <a:rPr sz="1425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ACF95-D7CB-46A1-B7CC-1EBDC5E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BD0"/>
                </a:solidFill>
              </a:defRPr>
            </a:pPr>
            <a:r>
              <a:rPr sz="825" b="0">
                <a:solidFill>
                  <a:srgbClr val="AEBBD0"/>
                </a:solidFill>
              </a:rPr>
              <a:t>UiPath Test Cloud agents that attack, repair, re-test, and certify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CD68E-6945-42A0-9499-C4102F09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"/>
            <a:ext cx="552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3352"/>
          </a:solidFill>
          <a:ln xmlns:a="http://schemas.openxmlformats.org/drawingml/2006/main" w="9525">
            <a:solidFill>
              <a:srgbClr val="477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A4AEC-EC0C-429C-B42C-5A6C6AD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71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9FC"/>
                </a:solidFill>
              </a:defRPr>
            </a:pPr>
            <a:r>
              <a:rPr sz="975" b="1">
                <a:solidFill>
                  <a:srgbClr val="F6F9FC"/>
                </a:solidFill>
              </a:rPr>
              <a:t>7/9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A69E2-BBD0-4FDD-BDC6-B5F4C0C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9FC"/>
                </a:solidFill>
              </a:defRPr>
            </a:pPr>
            <a:r>
              <a:rPr sz="2850" b="1">
                <a:solidFill>
                  <a:srgbClr val="F6F9FC"/>
                </a:solidFill>
              </a:rPr>
              <a:t>Human Approval: Action Center Keeps Accountability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EC4D6-0D02-4A42-B44E-B915E23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4A"/>
          </a:solidFill>
          <a:ln xmlns:a="http://schemas.openxmlformats.org/drawingml/2006/main" w="0">
            <a:solidFill>
              <a:srgbClr val="FFC9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B97CC-FB55-4E29-BC4F-0F4734F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Restricted runtime permits require a human approval gate.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EA476-A940-48C0-89B2-AE88A7D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99991-F118-4516-AD39-42E48D2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The task summarizes evidence, risks, allowed actions, and blocked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DA8B6-53C1-41F3-A741-A6560117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D28F"/>
          </a:solidFill>
          <a:ln xmlns:a="http://schemas.openxmlformats.org/drawingml/2006/main" w="0">
            <a:solidFill>
              <a:srgbClr val="2FD2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458B3-A9EE-44F7-B4BE-C25936A4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This prevents coding-agent repair candidates from being trusted automatically.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70E9E-8FA1-4C5E-9683-D6BD8E2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90650"/>
            <a:ext cx="4705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28E26-79A1-48B9-B611-854C5FD5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Action Center approval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873ca06e34c4a"/>
          <a:stretch xmlns:a="http://schemas.openxmlformats.org/drawingml/2006/main"/>
        </p:blipFill>
        <p:spPr>
          <a:xfrm xmlns:a="http://schemas.openxmlformats.org/drawingml/2006/main">
            <a:off x="6866781" y="1771650"/>
            <a:ext cx="4078187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6A66B-90F4-4519-B6F7-82F7570E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10F14-78DC-41A6-B71D-4F700600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High-impact AI behavior should remain accountable to a human before production access is activated.</a:t>
            </a:r>
          </a:p>
        </p:txBody>
      </p:sp>
    </p:spTree>
    <p:extLst>
      <p:ext uri="{BB962C8B-B14F-4D97-AF65-F5344CB8AC3E}">
        <p14:creationId xmlns:p14="http://schemas.microsoft.com/office/powerpoint/2010/main" val="1218258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E57D8-BF91-4BBB-93B8-1753B5A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6A17E-9B2B-4F05-B3B2-D61421A9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E88F7-CB43-44F3-97E5-B6D15C71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9FC"/>
                </a:solidFill>
              </a:defRPr>
            </a:pPr>
            <a:r>
              <a:rPr sz="1425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12388-8105-468A-8767-AD99723C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BD0"/>
                </a:solidFill>
              </a:defRPr>
            </a:pPr>
            <a:r>
              <a:rPr sz="825" b="0">
                <a:solidFill>
                  <a:srgbClr val="AEBBD0"/>
                </a:solidFill>
              </a:rPr>
              <a:t>UiPath Test Cloud agents that attack, repair, re-test, and certify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F021F-2158-4108-93BE-3F655091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"/>
            <a:ext cx="552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3352"/>
          </a:solidFill>
          <a:ln xmlns:a="http://schemas.openxmlformats.org/drawingml/2006/main" w="9525">
            <a:solidFill>
              <a:srgbClr val="477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569F1-4D77-4B09-99A9-8C79F295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71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9FC"/>
                </a:solidFill>
              </a:defRPr>
            </a:pPr>
            <a:r>
              <a:rPr sz="975" b="1">
                <a:solidFill>
                  <a:srgbClr val="F6F9FC"/>
                </a:solidFill>
              </a:rPr>
              <a:t>8/9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F800C-FD8E-4979-8AA8-A69ABCA0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9FC"/>
                </a:solidFill>
              </a:defRPr>
            </a:pPr>
            <a:r>
              <a:rPr sz="2850" b="1">
                <a:solidFill>
                  <a:srgbClr val="F6F9FC"/>
                </a:solidFill>
              </a:rPr>
              <a:t>Runtime Enforcement: API Workflow Blocks Unsafe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87C22-8C79-45FF-A052-B11191B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09F01-C6B9-4D35-9D8F-78F1A662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UiPath API Workflow is the runtime proxy for agent-to-agent tool calls.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8F43B-11FF-48CE-94E7-C2D1B66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0"/>
          </a:solidFill>
          <a:ln xmlns:a="http://schemas.openxmlformats.org/drawingml/2006/main" w="0">
            <a:solidFill>
              <a:srgbClr val="FF5C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6AEC2-4677-4B13-95E8-C6AF1F9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Unauthorized raw PII export returns deny_and_suspend.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1E6A4-2D2F-4314-925A-E8FCA463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D28F"/>
          </a:solidFill>
          <a:ln xmlns:a="http://schemas.openxmlformats.org/drawingml/2006/main" w="0">
            <a:solidFill>
              <a:srgbClr val="2FD2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11091-F7D5-4F57-8E9B-60C1D4FA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The tested permit becomes an enforceable production control.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E40A3-1964-4678-90D8-A97FFB89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90650"/>
            <a:ext cx="4705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49359-6B34-4BB3-A5FE-9A9F971F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API Workflow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ad30b204f4b32"/>
          <a:stretch xmlns:a="http://schemas.openxmlformats.org/drawingml/2006/main"/>
        </p:blipFill>
        <p:spPr>
          <a:xfrm xmlns:a="http://schemas.openxmlformats.org/drawingml/2006/main">
            <a:off x="6711167" y="1771650"/>
            <a:ext cx="4389416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17A0D-3651-4910-9A09-2A9CA045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23188-EB0D-4511-8CA7-A407B66D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Final runtime behavior: aggregate insights allowed; raw customer email export blocked; risky access escalated.</a:t>
            </a:r>
          </a:p>
        </p:txBody>
      </p:sp>
    </p:spTree>
    <p:extLst>
      <p:ext uri="{BB962C8B-B14F-4D97-AF65-F5344CB8AC3E}">
        <p14:creationId xmlns:p14="http://schemas.microsoft.com/office/powerpoint/2010/main" val="333575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1B603-2921-4CC3-9B68-501F2D9C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32460-3215-4315-89E3-1FC086F7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C5F40-B546-4244-B7E4-5B866A3D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9FC"/>
                </a:solidFill>
              </a:defRPr>
            </a:pPr>
            <a:r>
              <a:rPr sz="1425" b="1">
                <a:solidFill>
                  <a:srgbClr val="F6F9FC"/>
                </a:solidFill>
              </a:rPr>
              <a:t>Agentic Test Swarm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95C9E-4972-4C8A-970F-B496C9F5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BD0"/>
                </a:solidFill>
              </a:defRPr>
            </a:pPr>
            <a:r>
              <a:rPr sz="825" b="0">
                <a:solidFill>
                  <a:srgbClr val="AEBBD0"/>
                </a:solidFill>
              </a:rPr>
              <a:t>UiPath Test Cloud agents that attack, repair, re-test, and certify AI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CBCBE-77FE-4E87-90A6-8BBEF245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"/>
            <a:ext cx="552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3352"/>
          </a:solidFill>
          <a:ln xmlns:a="http://schemas.openxmlformats.org/drawingml/2006/main" w="9525">
            <a:solidFill>
              <a:srgbClr val="477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3D992-B37D-4723-ABC3-172B80F9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71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9FC"/>
                </a:solidFill>
              </a:defRPr>
            </a:pPr>
            <a:r>
              <a:rPr sz="975" b="1">
                <a:solidFill>
                  <a:srgbClr val="F6F9FC"/>
                </a:solidFill>
              </a:rPr>
              <a:t>9/9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D3DB4-E57C-43B1-A1BF-BD4D08DC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9FC"/>
                </a:solidFill>
              </a:defRPr>
            </a:pPr>
            <a:r>
              <a:rPr sz="2850" b="1">
                <a:solidFill>
                  <a:srgbClr val="F6F9FC"/>
                </a:solidFill>
              </a:rPr>
              <a:t>Why This Fits UiPath AgentHack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E7F83-BCA7-4474-B271-A25A4408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F0FB"/>
                </a:solidFill>
              </a:defRPr>
            </a:pPr>
            <a:r>
              <a:rPr sz="1950" b="1">
                <a:solidFill>
                  <a:srgbClr val="E7F0FB"/>
                </a:solidFill>
              </a:rPr>
              <a:t>Agentic Test Swarm directly targets Track 3: agents that redesign testing for AI-infused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FD93C-DDCE-4BC0-9C44-021E965E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5FF"/>
          </a:solidFill>
          <a:ln xmlns:a="http://schemas.openxmlformats.org/drawingml/2006/main" w="0">
            <a:solidFill>
              <a:srgbClr val="149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BA013-6CD4-4FAB-8F32-8D34A6E0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Requirement-to-test: policies and traces become certification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6C96A-E578-424D-B63F-51DC3A7C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0"/>
          </a:solidFill>
          <a:ln xmlns:a="http://schemas.openxmlformats.org/drawingml/2006/main" w="0">
            <a:solidFill>
              <a:srgbClr val="FF5C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BF228-7EE2-48A6-B38B-91BC9C2A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Adversarial testing: Red-Team Agent attacks agent-to-agent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DCC59-84DC-4AE7-9C45-9C29E09C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D28F"/>
          </a:solidFill>
          <a:ln xmlns:a="http://schemas.openxmlformats.org/drawingml/2006/main" w="0">
            <a:solidFill>
              <a:srgbClr val="2FD2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4E416-3363-4D61-ADCD-C12689BC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Failure repair: coding-agent repair candidates must pass re-test.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82FB4-F707-4CBB-A2BF-E28BD804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4A"/>
          </a:solidFill>
          <a:ln xmlns:a="http://schemas.openxmlformats.org/drawingml/2006/main" w="0">
            <a:solidFill>
              <a:srgbClr val="FFC9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3378D-C3D7-4FFE-91B3-9707876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9FC"/>
                </a:solidFill>
              </a:defRPr>
            </a:pPr>
            <a:r>
              <a:rPr sz="1350" b="0">
                <a:solidFill>
                  <a:srgbClr val="F6F9FC"/>
                </a:solidFill>
              </a:rPr>
              <a:t>Governance: Action Center and API Workflow make evidence enforceable.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34439-43F7-4662-A535-11D69422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371600"/>
            <a:ext cx="413385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15243A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EBD29-612B-43DD-BC84-FE46E6B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859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BD0"/>
                </a:solidFill>
              </a:defRPr>
            </a:pPr>
            <a:r>
              <a:rPr sz="1050" b="1">
                <a:solidFill>
                  <a:srgbClr val="AEBBD0"/>
                </a:solidFill>
              </a:rPr>
              <a:t>Judge proof pack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7290d1e6e4a48"/>
          <a:stretch xmlns:a="http://schemas.openxmlformats.org/drawingml/2006/main"/>
        </p:blipFill>
        <p:spPr>
          <a:xfrm xmlns:a="http://schemas.openxmlformats.org/drawingml/2006/main">
            <a:off x="7000875" y="2029095"/>
            <a:ext cx="3905250" cy="239976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16D22-0776-4CDA-8CB5-28BCC91C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530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7"/>
                </a:solidFill>
              </a:defRPr>
            </a:pPr>
            <a:r>
              <a:rPr sz="1350" b="0">
                <a:solidFill>
                  <a:srgbClr val="DCE8F7"/>
                </a:solidFill>
              </a:rPr>
              <a:t>Public demo: https://permitops-uipath.vercel.app/</a:t>
            </a:r>
          </a:p>
          <a:p xmlns:a="http://schemas.openxmlformats.org/drawingml/2006/main">
            <a:pPr algn="l">
              <a:defRPr sz="1350" b="0">
                <a:solidFill>
                  <a:srgbClr val="DCE8F7"/>
                </a:solidFill>
              </a:defRPr>
            </a:pPr>
            <a:r>
              <a:rPr sz="1350" b="0">
                <a:solidFill>
                  <a:srgbClr val="DCE8F7"/>
                </a:solidFill>
              </a:rPr>
              <a:t>GitHub: https://github.com/Jerry2003826/Uipath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D7050-4EFB-48D7-8423-031DD934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36507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12495-E336-49F6-A5D6-5F1FE635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15075"/>
            <a:ext cx="1070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8F7"/>
                </a:solidFill>
              </a:defRPr>
            </a:pPr>
            <a:r>
              <a:rPr sz="1050" b="0">
                <a:solidFill>
                  <a:srgbClr val="DCE8F7"/>
                </a:solidFill>
              </a:rPr>
              <a:t>One-line close: Agentic Test Swarm turns AI-generated tests into enforceable production permissions.</a:t>
            </a:r>
          </a:p>
        </p:txBody>
      </p:sp>
    </p:spTree>
    <p:extLst>
      <p:ext uri="{BB962C8B-B14F-4D97-AF65-F5344CB8AC3E}">
        <p14:creationId xmlns:p14="http://schemas.microsoft.com/office/powerpoint/2010/main" val="1704864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2026-06-29T16:12:02.0740000Z</dcterms:created>
  <dcterms:modified xsi:type="dcterms:W3CDTF">2026-06-29T16:12:02.0740000Z</dcterms:modified>
</coreProperties>
</file>